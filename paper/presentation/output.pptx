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546ac9e6d149af" /><Relationship Type="http://schemas.openxmlformats.org/officeDocument/2006/relationships/extended-properties" Target="/docProps/app.xml" Id="R0bcfa33eba134eff" /><Relationship Type="http://schemas.openxmlformats.org/officeDocument/2006/relationships/officeDocument" Target="/ppt/presentation.xml" Id="Reb694b6f812c4a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b96a9b2d5a44cf"/>
  </p:sldMasterIdLst>
  <p:notesMasterIdLst>
    <p:notesMasterId xmlns:r="http://schemas.openxmlformats.org/officeDocument/2006/relationships" r:id="Rdffba01b6000404b"/>
  </p:notesMasterIdLst>
  <p:sldIdLst>
    <p:sldId xmlns:r="http://schemas.openxmlformats.org/officeDocument/2006/relationships" id="256" r:id="R5aa416487ac148d9"/>
    <p:sldId xmlns:r="http://schemas.openxmlformats.org/officeDocument/2006/relationships" id="257" r:id="Rb4ae70e9d0304be7"/>
    <p:sldId xmlns:r="http://schemas.openxmlformats.org/officeDocument/2006/relationships" id="258" r:id="Rf0e65dd803b148e3"/>
    <p:sldId xmlns:r="http://schemas.openxmlformats.org/officeDocument/2006/relationships" id="259" r:id="R84981fd498c34eda"/>
    <p:sldId xmlns:r="http://schemas.openxmlformats.org/officeDocument/2006/relationships" id="260" r:id="Re55002f5194f4d5d"/>
    <p:sldId xmlns:r="http://schemas.openxmlformats.org/officeDocument/2006/relationships" id="261" r:id="Re642f70b65124986"/>
    <p:sldId xmlns:r="http://schemas.openxmlformats.org/officeDocument/2006/relationships" id="262" r:id="R48d64b6526dc4f7b"/>
    <p:sldId xmlns:r="http://schemas.openxmlformats.org/officeDocument/2006/relationships" id="263" r:id="Rcf1e291dc8bd46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96a9b2d5a44cf" /><Relationship Type="http://schemas.openxmlformats.org/officeDocument/2006/relationships/theme" Target="/ppt/theme/theme1.xml" Id="Re3423f43199c4dc3" /><Relationship Type="http://schemas.openxmlformats.org/officeDocument/2006/relationships/notesMaster" Target="/ppt/notesMasters/notesMaster1.xml" Id="Rdffba01b6000404b" /><Relationship Type="http://schemas.openxmlformats.org/officeDocument/2006/relationships/presProps" Target="/ppt/presProps.xml" Id="R174752ceb2374dd8" /><Relationship Type="http://schemas.openxmlformats.org/officeDocument/2006/relationships/viewProps" Target="/ppt/viewProps.xml" Id="R8ad9fc62de554a34" /><Relationship Type="http://schemas.openxmlformats.org/officeDocument/2006/relationships/tableStyles" Target="/ppt/tableStyles.xml" Id="Rd7c164eaba264b85" /><Relationship Type="http://schemas.openxmlformats.org/officeDocument/2006/relationships/slide" Target="/ppt/slides/slide1.xml" Id="R5aa416487ac148d9" /><Relationship Type="http://schemas.openxmlformats.org/officeDocument/2006/relationships/slide" Target="/ppt/slides/slide2.xml" Id="Rb4ae70e9d0304be7" /><Relationship Type="http://schemas.openxmlformats.org/officeDocument/2006/relationships/slide" Target="/ppt/slides/slide3.xml" Id="Rf0e65dd803b148e3" /><Relationship Type="http://schemas.openxmlformats.org/officeDocument/2006/relationships/slide" Target="/ppt/slides/slide4.xml" Id="R84981fd498c34eda" /><Relationship Type="http://schemas.openxmlformats.org/officeDocument/2006/relationships/slide" Target="/ppt/slides/slide5.xml" Id="Re55002f5194f4d5d" /><Relationship Type="http://schemas.openxmlformats.org/officeDocument/2006/relationships/slide" Target="/ppt/slides/slide6.xml" Id="Re642f70b65124986" /><Relationship Type="http://schemas.openxmlformats.org/officeDocument/2006/relationships/slide" Target="/ppt/slides/slide7.xml" Id="R48d64b6526dc4f7b" /><Relationship Type="http://schemas.openxmlformats.org/officeDocument/2006/relationships/slide" Target="/ppt/slides/slide8.xml" Id="Rcf1e291dc8bd46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2143eff9b5147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KerrDark">
  <a:themeElements>
    <a:clrScheme name="KerrDark">
      <a:accent1>
        <a:srgbClr val="35D0A2"/>
      </a:accent1>
      <a:accent2>
        <a:srgbClr val="E7B84D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err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34b30e9769408f" /><Relationship Type="http://schemas.openxmlformats.org/officeDocument/2006/relationships/notesMaster" Target="/ppt/notesMasters/notesMaster1.xml" Id="R3375e9e401b94e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111227fcb24fbf" /><Relationship Type="http://schemas.openxmlformats.org/officeDocument/2006/relationships/notesMaster" Target="/ppt/notesMasters/notesMaster1.xml" Id="Rcf284b74fe2640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39f3b025be41a4" /><Relationship Type="http://schemas.openxmlformats.org/officeDocument/2006/relationships/notesMaster" Target="/ppt/notesMasters/notesMaster1.xml" Id="R112d0588629148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e3a8ea9a464d38" /><Relationship Type="http://schemas.openxmlformats.org/officeDocument/2006/relationships/notesMaster" Target="/ppt/notesMasters/notesMaster1.xml" Id="Re6b3b23a63cf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d81478b35e4f13" /><Relationship Type="http://schemas.openxmlformats.org/officeDocument/2006/relationships/notesMaster" Target="/ppt/notesMasters/notesMaster1.xml" Id="R524ddcc5fb4a46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d30b5593c64442" /><Relationship Type="http://schemas.openxmlformats.org/officeDocument/2006/relationships/notesMaster" Target="/ppt/notesMasters/notesMaster1.xml" Id="R9f2e4b5ea910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cc0179477d474f" /><Relationship Type="http://schemas.openxmlformats.org/officeDocument/2006/relationships/notesMaster" Target="/ppt/notesMasters/notesMaster1.xml" Id="R7c484e3c4ccb4b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42ad2b22ca4f19" /><Relationship Type="http://schemas.openxmlformats.org/officeDocument/2006/relationships/notesMaster" Target="/ppt/notesMasters/notesMaster1.xml" Id="Rd62fdcfff63544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5f13f0dc0425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A21ED40-45C9-49E3-965B-DD31F8A17AC7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4DCDA2-DB4E-4FD6-A96D-DB4FEC2F02A0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2C9D94-0E61-4E96-A854-1CAC5B542FB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944B8F-1E9E-4167-878D-16581A32ABA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901BF4-ADF9-4C82-A9D8-DCB3E1664A1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93ceba93f2a4f95" /><Relationship Type="http://schemas.openxmlformats.org/officeDocument/2006/relationships/slideLayout" Target="/ppt/slideLayouts/slideLayout2.xml" Id="Rfbdd9c794f9946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8F2876-DFF8-4E3F-8B7F-FB6003A286D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dd9c794f9946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77a6d22b244d20" /><Relationship Type="http://schemas.openxmlformats.org/officeDocument/2006/relationships/image" Target="/ppt/media/image.png" Id="R5c57c40beee94684" /><Relationship Type="http://schemas.openxmlformats.org/officeDocument/2006/relationships/notesSlide" Target="/ppt/notesSlides/notesSlide1.xml" Id="Rdb576677c7f949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22fc3c786c47f3" /><Relationship Type="http://schemas.openxmlformats.org/officeDocument/2006/relationships/notesSlide" Target="/ppt/notesSlides/notesSlide2.xml" Id="R9088f4d8d48642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6fc07460b34003" /><Relationship Type="http://schemas.openxmlformats.org/officeDocument/2006/relationships/notesSlide" Target="/ppt/notesSlides/notesSlide3.xml" Id="R54b44b89a07a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8131323cbd4e62" /><Relationship Type="http://schemas.openxmlformats.org/officeDocument/2006/relationships/notesSlide" Target="/ppt/notesSlides/notesSlide4.xml" Id="R49ad89ee75764d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98d97261304198" /><Relationship Type="http://schemas.openxmlformats.org/officeDocument/2006/relationships/image" Target="/ppt/media/image2.png" Id="Rcca36e02e28e439e" /><Relationship Type="http://schemas.openxmlformats.org/officeDocument/2006/relationships/image" Target="/ppt/media/image3.png" Id="Rff9edac1b756463b" /><Relationship Type="http://schemas.openxmlformats.org/officeDocument/2006/relationships/image" Target="/ppt/media/image4.png" Id="Rb681a4fe1cbd4c82" /><Relationship Type="http://schemas.openxmlformats.org/officeDocument/2006/relationships/notesSlide" Target="/ppt/notesSlides/notesSlide5.xml" Id="R312b5679e92546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377bec4d084c84" /><Relationship Type="http://schemas.openxmlformats.org/officeDocument/2006/relationships/notesSlide" Target="/ppt/notesSlides/notesSlide6.xml" Id="R5d53a65442d247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0ffae6d4aa4324" /><Relationship Type="http://schemas.openxmlformats.org/officeDocument/2006/relationships/image" Target="/ppt/media/image5.png" Id="Ra271da94514545ef" /><Relationship Type="http://schemas.openxmlformats.org/officeDocument/2006/relationships/image" Target="/ppt/media/image6.png" Id="Rf8a685d8f0ae4e88" /><Relationship Type="http://schemas.openxmlformats.org/officeDocument/2006/relationships/image" Target="/ppt/media/image7.png" Id="R04eca11897f94de0" /><Relationship Type="http://schemas.openxmlformats.org/officeDocument/2006/relationships/notesSlide" Target="/ppt/notesSlides/notesSlide7.xml" Id="R6f3fbb0da3af40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c0c4ce70b4544" /><Relationship Type="http://schemas.openxmlformats.org/officeDocument/2006/relationships/notesSlide" Target="/ppt/notesSlides/notesSlide8.xml" Id="R7a20b79c3b974e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901BF4-ADF9-4C82-A9D8-DCB3E1664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7c40beee9468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A7208-C6B0-48D1-8E4C-E85C5C6A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53333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6A186-2F1A-48EA-81AD-4D5619C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</a:defRPr>
            </a:pPr>
            <a:r>
              <a:rPr sz="2550" b="1">
                <a:solidFill>
                  <a:srgbClr val="F4F7F8"/>
                </a:solidFill>
              </a:rPr>
              <a:t>Kerr 黑洞吸积盘 GPU 光线追踪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3103C-8A59-43FD-B311-323E36CD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BD"/>
                </a:solidFill>
              </a:defRPr>
            </a:pPr>
            <a:r>
              <a:rPr sz="1500" b="0">
                <a:solidFill>
                  <a:srgbClr val="A8B6BD"/>
                </a:solidFill>
              </a:rPr>
              <a:t>CPU 基准、CUDA geodesic、验证指标与论文级汇报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E1AE1-7A09-4407-A77F-5CE8B64C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E9B7C-0E31-439B-B3AE-5E6852D8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a=0.7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B5C19-4F15-4660-B5AC-8CF05A1C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default spin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37E85-0558-47D6-AD45-9B8E7FEA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720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3780D-94FF-4AAB-AD08-381ACC9C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435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128²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D91A4-939E-42AA-B78E-EA6864D2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054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resolution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7AAFC-052D-41AF-92B8-68E6C8C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720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DE057-875F-44FE-8034-F2DA0D48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435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cuda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FD2DE-516E-4521-ACAC-365D495D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5054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A2D75-6D5C-44A5-A842-D46D9604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6E"/>
                </a:solidFill>
              </a:defRPr>
            </a:pPr>
            <a:r>
              <a:rPr sz="975" b="0">
                <a:solidFill>
                  <a:srgbClr val="51656E"/>
                </a:solidFill>
              </a:rPr>
              <a:t>Generated artifacts: figures, results, validation, paper</a:t>
            </a:r>
          </a:p>
        </p:txBody>
      </p:sp>
    </p:spTree>
    <p:extLst>
      <p:ext uri="{BB962C8B-B14F-4D97-AF65-F5344CB8AC3E}">
        <p14:creationId xmlns:p14="http://schemas.microsoft.com/office/powerpoint/2010/main" val="1607067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901BF4-ADF9-4C82-A9D8-DCB3E1664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8AAA0-B099-4584-913D-663BC69F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</a:defRPr>
            </a:pPr>
            <a:r>
              <a:rPr sz="2550" b="1">
                <a:solidFill>
                  <a:srgbClr val="F4F7F8"/>
                </a:solidFill>
              </a:rPr>
              <a:t>研究基线：先验证，再 CUDA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10C65-C451-4B40-BDD1-382FC7EB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BD"/>
                </a:solidFill>
              </a:defRPr>
            </a:pPr>
            <a:r>
              <a:rPr sz="1350" b="0">
                <a:solidFill>
                  <a:srgbClr val="A8B6BD"/>
                </a:solidFill>
              </a:rPr>
              <a:t>文献和开源项目审计给出的路线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798B2-7843-44EF-A626-D7BD5066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43F07-F8D2-4BC3-801D-7DCBAD60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123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D0A2"/>
                </a:solidFill>
              </a:defRPr>
            </a:pPr>
            <a:r>
              <a:rPr sz="1725" b="1">
                <a:solidFill>
                  <a:srgbClr val="35D0A2"/>
                </a:solidFill>
              </a:rPr>
              <a:t>geokerr / YNOGK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0D94F-2065-4121-BB42-3DC1D7AC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37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6BD"/>
                </a:solidFill>
              </a:defRPr>
            </a:pPr>
            <a:r>
              <a:rPr sz="1275" b="0">
                <a:solidFill>
                  <a:srgbClr val="A8B6BD"/>
                </a:solidFill>
              </a:rPr>
              <a:t>半解析 Kerr photon orbit，适合做单光线交叉验证。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66CFA-AEEC-4AD6-8F6D-F8202216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4586B-F519-4587-9246-2F00FC8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123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D0A2"/>
                </a:solidFill>
              </a:defRPr>
            </a:pPr>
            <a:r>
              <a:rPr sz="1725" b="1">
                <a:solidFill>
                  <a:srgbClr val="35D0A2"/>
                </a:solidFill>
              </a:rPr>
              <a:t>Odyssey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D3726-8439-4AFF-94C8-356C0F24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4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6BD"/>
                </a:solidFill>
              </a:defRPr>
            </a:pPr>
            <a:r>
              <a:rPr sz="1275" b="0">
                <a:solidFill>
                  <a:srgbClr val="A8B6BD"/>
                </a:solidFill>
              </a:rPr>
              <a:t>CUDA GRRT 结构参考：一像素一线程、early termination、统一输出数组。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9165E-DC68-40D5-876B-D27BC16A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4857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1FE5C-292E-423A-B4C5-180D9934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1235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D0A2"/>
                </a:solidFill>
              </a:defRPr>
            </a:pPr>
            <a:r>
              <a:rPr sz="1725" b="1">
                <a:solidFill>
                  <a:srgbClr val="35D0A2"/>
                </a:solidFill>
              </a:rPr>
              <a:t>grtrans / ipole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0F0F9-249A-4606-8378-36AEEF41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37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6BD"/>
                </a:solidFill>
              </a:defRPr>
            </a:pPr>
            <a:r>
              <a:rPr sz="1275" b="0">
                <a:solidFill>
                  <a:srgbClr val="A8B6BD"/>
                </a:solidFill>
              </a:rPr>
              <a:t>完整 GRRT 与偏振输运参考，但不作为 MVP 主线。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4FBA2-1111-4D25-B2AF-F61B1FD7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4958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A171D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1D568-0E28-4247-AFD9-80F1DD8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00250"/>
            <a:ext cx="3714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49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thin disk 成像作为第一物理对象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Carter/半解析路线作为后续 validation reference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CPU/GPU 一致性优先于视觉效果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EHT 论文只提供观测语境，不做像素级 truth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73A1F-7286-4877-B1EA-1E8545A9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6E"/>
                </a:solidFill>
              </a:defRPr>
            </a:pPr>
            <a:r>
              <a:rPr sz="975" b="0">
                <a:solidFill>
                  <a:srgbClr val="51656E"/>
                </a:solidFill>
              </a:rPr>
              <a:t>Kerr thin-disk ray tracing</a:t>
            </a:r>
          </a:p>
        </p:txBody>
      </p:sp>
    </p:spTree>
    <p:extLst>
      <p:ext uri="{BB962C8B-B14F-4D97-AF65-F5344CB8AC3E}">
        <p14:creationId xmlns:p14="http://schemas.microsoft.com/office/powerpoint/2010/main" val="304038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901BF4-ADF9-4C82-A9D8-DCB3E1664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0573C-EF19-4F20-9B7E-A085C896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</a:defRPr>
            </a:pPr>
            <a:r>
              <a:rPr sz="2550" b="1">
                <a:solidFill>
                  <a:srgbClr val="F4F7F8"/>
                </a:solidFill>
              </a:rPr>
              <a:t>物理模型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F19D0-9AD2-4AF5-9FFF-807C6FBC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BD"/>
                </a:solidFill>
              </a:defRPr>
            </a:pPr>
            <a:r>
              <a:rPr sz="1350" b="0">
                <a:solidFill>
                  <a:srgbClr val="A8B6BD"/>
                </a:solidFill>
              </a:rPr>
              <a:t>Boyer-Lindquist Kerr metric + equatorial thin disk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E1F9E-6B29-4BA5-9F5B-AE06885E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4572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EBFC0-8355-4854-B57C-65AF1CB5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89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B84D"/>
                </a:solidFill>
              </a:defRPr>
            </a:pPr>
            <a:r>
              <a:rPr sz="1425" b="1">
                <a:solidFill>
                  <a:srgbClr val="E7B84D"/>
                </a:solidFill>
              </a:rPr>
              <a:t>Units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0D85A-C941-4035-8374-40A24C3C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864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8"/>
                </a:solidFill>
              </a:defRPr>
            </a:pPr>
            <a:r>
              <a:rPr sz="1875" b="0">
                <a:solidFill>
                  <a:srgbClr val="F4F7F8"/>
                </a:solidFill>
              </a:rPr>
              <a:t>G = c = M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1EEDC-AF91-47D2-AA8D-040F7AFC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4572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90EEB-A1DF-4284-BFF1-03D2A3C4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89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B84D"/>
                </a:solidFill>
              </a:defRPr>
            </a:pPr>
            <a:r>
              <a:rPr sz="1425" b="1">
                <a:solidFill>
                  <a:srgbClr val="E7B84D"/>
                </a:solidFill>
              </a:rPr>
              <a:t>Horizon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3D977-D9B7-4537-ACB3-10042DC9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864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8"/>
                </a:solidFill>
              </a:defRPr>
            </a:pPr>
            <a:r>
              <a:rPr sz="1875" b="0">
                <a:solidFill>
                  <a:srgbClr val="F4F7F8"/>
                </a:solidFill>
              </a:rPr>
              <a:t>r+ = 1 + sqrt(1 - a²)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3C315-B362-4F42-AD1B-8E42D305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572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FABC1-CAEA-4AC7-AACC-E0D5656E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89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B84D"/>
                </a:solidFill>
              </a:defRPr>
            </a:pPr>
            <a:r>
              <a:rPr sz="1425" b="1">
                <a:solidFill>
                  <a:srgbClr val="E7B84D"/>
                </a:solidFill>
              </a:rPr>
              <a:t>Null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9B651-B6BA-48CA-88E0-608B3ED3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864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8"/>
                </a:solidFill>
              </a:defRPr>
            </a:pPr>
            <a:r>
              <a:rPr sz="1875" b="0">
                <a:solidFill>
                  <a:srgbClr val="F4F7F8"/>
                </a:solidFill>
              </a:rPr>
              <a:t>H = 1/2 g^{μν} pμ pν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090DA-8FC7-43C5-81E4-09DDA98A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4572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426A4-B97E-4942-83EE-D98214F5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898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B84D"/>
                </a:solidFill>
              </a:defRPr>
            </a:pPr>
            <a:r>
              <a:rPr sz="1425" b="1">
                <a:solidFill>
                  <a:srgbClr val="E7B84D"/>
                </a:solidFill>
              </a:rPr>
              <a:t>Brightness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69032-DE58-438B-AB6C-FB931312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864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8"/>
                </a:solidFill>
              </a:defRPr>
            </a:pPr>
            <a:r>
              <a:rPr sz="1875" b="0">
                <a:solidFill>
                  <a:srgbClr val="F4F7F8"/>
                </a:solidFill>
              </a:rPr>
              <a:t>Iobs = g³ Iemit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94050-82D3-4B5C-AFAA-E5B5F47D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933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默认内边界为 ISCO，外半径可配置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发射模型支持 power-law 与 NT-like flux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报告同时展示 fast MVP 预览与 full geodesic 科学参考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A65D1E-FE3C-4F59-9F8A-85013D69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6E"/>
                </a:solidFill>
              </a:defRPr>
            </a:pPr>
            <a:r>
              <a:rPr sz="975" b="0">
                <a:solidFill>
                  <a:srgbClr val="51656E"/>
                </a:solidFill>
              </a:rPr>
              <a:t>Kerr thin-disk ray tracing</a:t>
            </a:r>
          </a:p>
        </p:txBody>
      </p:sp>
    </p:spTree>
    <p:extLst>
      <p:ext uri="{BB962C8B-B14F-4D97-AF65-F5344CB8AC3E}">
        <p14:creationId xmlns:p14="http://schemas.microsoft.com/office/powerpoint/2010/main" val="68711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901BF4-ADF9-4C82-A9D8-DCB3E1664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E7823-C366-408B-8C94-EF3BA2F6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</a:defRPr>
            </a:pPr>
            <a:r>
              <a:rPr sz="2550" b="1">
                <a:solidFill>
                  <a:srgbClr val="F4F7F8"/>
                </a:solidFill>
              </a:rPr>
              <a:t>工程管线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04F0F-F406-42D0-A439-E0E0B40B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BD"/>
                </a:solidFill>
              </a:defRPr>
            </a:pPr>
            <a:r>
              <a:rPr sz="1350" b="0">
                <a:solidFill>
                  <a:srgbClr val="A8B6BD"/>
                </a:solidFill>
              </a:rPr>
              <a:t>同一配置驱动 CPU、CUDA/fallback、benchmark 与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F37E0-5333-4DC3-B1C1-ECEB2F61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B84D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2BA3B-0CC1-431A-A9AE-58897EF7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014"/>
                </a:solidFill>
              </a:defRPr>
            </a:pPr>
            <a:r>
              <a:rPr sz="1500" b="1">
                <a:solidFill>
                  <a:srgbClr val="071014"/>
                </a:solidFill>
              </a:rPr>
              <a:t>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35147-E6BA-44ED-84DF-8601FE67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146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D0A2"/>
          </a:solidFill>
          <a:ln xmlns:a="http://schemas.openxmlformats.org/drawingml/2006/main" w="0">
            <a:solidFill>
              <a:srgbClr val="35D0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771D3-60C2-4154-A762-7F2898D3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19375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6538F-3338-46B8-8AD3-2666D1BA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765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Camera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11B6E-7B06-4665-99C3-8BA1028B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146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D0A2"/>
          </a:solidFill>
          <a:ln xmlns:a="http://schemas.openxmlformats.org/drawingml/2006/main" w="0">
            <a:solidFill>
              <a:srgbClr val="35D0A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E210A-49AD-4818-9B3F-6AAEA36A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A8BBE-6A4B-4676-8D09-C5E4B92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Metric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173DD-53C3-4F3C-9D1E-7B8F8BCB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D0A2"/>
          </a:solidFill>
          <a:ln xmlns:a="http://schemas.openxmlformats.org/drawingml/2006/main" w="0">
            <a:solidFill>
              <a:srgbClr val="35D0A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68D6F-8EAA-4012-947B-261D56B8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E6BDF-0DA6-44C5-A2B6-F341AFC5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765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Disk hit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BD0AB-5E18-46CA-B5FD-AF174453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146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D0A2"/>
          </a:solidFill>
          <a:ln xmlns:a="http://schemas.openxmlformats.org/drawingml/2006/main" w="0">
            <a:solidFill>
              <a:srgbClr val="35D0A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CF4D6D-4155-4506-A0B1-9EDCBB25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E9730D-5ABA-495D-BFF1-7932BA90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765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Maps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9F4C4-98DA-4D18-BCEF-FD8AAB17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D0A2"/>
          </a:solidFill>
          <a:ln xmlns:a="http://schemas.openxmlformats.org/drawingml/2006/main" w="0">
            <a:solidFill>
              <a:srgbClr val="35D0A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2B757-F5A9-4CCE-9112-637E3DFC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9375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B9CD8-0432-48FB-BDC5-037A5B6E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765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8"/>
                </a:solidFill>
              </a:defRPr>
            </a:pPr>
            <a:r>
              <a:rPr sz="1500" b="1">
                <a:solidFill>
                  <a:srgbClr val="F4F7F8"/>
                </a:solidFill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999D5-3718-486C-941A-DD0F3DF4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9334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CPU output: reference/cpu_reference.npz + output/cpu_image.png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GPU output contract: intensity, redshift, temperature, hit_mask, rgb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Validation: pytest + image-map MSE/MAE/max error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81AEF8-43CF-4BEB-BD09-9E97BA45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6E"/>
                </a:solidFill>
              </a:defRPr>
            </a:pPr>
            <a:r>
              <a:rPr sz="975" b="0">
                <a:solidFill>
                  <a:srgbClr val="51656E"/>
                </a:solidFill>
              </a:rPr>
              <a:t>Kerr thin-disk ray tracing</a:t>
            </a:r>
          </a:p>
        </p:txBody>
      </p:sp>
    </p:spTree>
    <p:extLst>
      <p:ext uri="{BB962C8B-B14F-4D97-AF65-F5344CB8AC3E}">
        <p14:creationId xmlns:p14="http://schemas.microsoft.com/office/powerpoint/2010/main" val="1052765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901BF4-ADF9-4C82-A9D8-DCB3E1664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10B6C-A724-4C3C-8407-B36C9355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</a:defRPr>
            </a:pPr>
            <a:r>
              <a:rPr sz="2550" b="1">
                <a:solidFill>
                  <a:srgbClr val="F4F7F8"/>
                </a:solidFill>
              </a:rPr>
              <a:t>渲染输出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77450-01CA-4159-9A7A-1FD73A6F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BD"/>
                </a:solidFill>
              </a:defRPr>
            </a:pPr>
            <a:r>
              <a:rPr sz="1350" b="0">
                <a:solidFill>
                  <a:srgbClr val="A8B6BD"/>
                </a:solidFill>
              </a:rPr>
              <a:t>快速图像、Hamiltonian geodesic 参考与 CPU/GPU 对比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a36e02e28e439e"/>
          <a:srcRect xmlns:a="http://schemas.openxmlformats.org/drawingml/2006/main" l="0" t="1471" r="0" b="14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66850"/>
            <a:ext cx="3238500" cy="314325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edac1b756463b"/>
          <a:stretch xmlns:a="http://schemas.openxmlformats.org/drawingml/2006/main"/>
        </p:blipFill>
        <p:spPr>
          <a:xfrm xmlns:a="http://schemas.openxmlformats.org/drawingml/2006/main">
            <a:off x="4476750" y="1466850"/>
            <a:ext cx="2571750" cy="25717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1a4fe1cbd4c82"/>
          <a:stretch xmlns:a="http://schemas.openxmlformats.org/drawingml/2006/main"/>
        </p:blipFill>
        <p:spPr>
          <a:xfrm xmlns:a="http://schemas.openxmlformats.org/drawingml/2006/main">
            <a:off x="7658100" y="2155825"/>
            <a:ext cx="3810000" cy="127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12AFB-4064-41E3-BE87-550426DC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fast final_render.png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9FB14-F1F8-46A9-B025-CE2C170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71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geodesic 48x48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86B89-9DF8-42CF-B489-DBF5AAA9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CPU | CUDA |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D1AD1-793E-43FE-A6C5-87B86104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38700"/>
            <a:ext cx="123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C0418-A0B4-41DB-9D4B-DDDC24FE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2114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706CB-1D3E-4361-9AA8-9E6FC517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7210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disk hits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AB03D-CAD0-424D-9249-52E2AAD9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38700"/>
            <a:ext cx="1238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6E3A0-995F-40AB-9499-A9137BF1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182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2ED56-FB50-4489-80D6-F0149728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72100"/>
            <a:ext cx="895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captured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BB905-D000-4B53-BFA5-323D4740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38700"/>
            <a:ext cx="1428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94144-5034-4577-8DF0-42C83A50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10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34.9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93C94-57CF-48F7-A79D-12E19B0E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721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geodesic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EDB92-2A57-45B4-B93C-C6928839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6E"/>
                </a:solidFill>
              </a:defRPr>
            </a:pPr>
            <a:r>
              <a:rPr sz="975" b="0">
                <a:solidFill>
                  <a:srgbClr val="51656E"/>
                </a:solidFill>
              </a:rPr>
              <a:t>Kerr thin-disk ray tracing</a:t>
            </a:r>
          </a:p>
        </p:txBody>
      </p:sp>
    </p:spTree>
    <p:extLst>
      <p:ext uri="{BB962C8B-B14F-4D97-AF65-F5344CB8AC3E}">
        <p14:creationId xmlns:p14="http://schemas.microsoft.com/office/powerpoint/2010/main" val="1119525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901BF4-ADF9-4C82-A9D8-DCB3E1664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8DB56-16F6-42DE-B834-5049666A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</a:defRPr>
            </a:pPr>
            <a:r>
              <a:rPr sz="2550" b="1">
                <a:solidFill>
                  <a:srgbClr val="F4F7F8"/>
                </a:solidFill>
              </a:rPr>
              <a:t>验证状态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8E3DF-BAD1-4FFD-90FD-A5B354C2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BD"/>
                </a:solidFill>
              </a:defRPr>
            </a:pPr>
            <a:r>
              <a:rPr sz="1350" b="0">
                <a:solidFill>
                  <a:srgbClr val="A8B6BD"/>
                </a:solidFill>
              </a:rPr>
              <a:t>当前机器 CUDA 可用，GPU 路径记录为 CuPy RawKernel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CD6C2-39B8-44BA-AE30-21B65621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7477A-64A2-45E7-9778-1557C6A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19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A8EA1-CBF5-402E-90C5-2F8CF29E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pytest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D4BE0-7F5C-458E-AD1B-3F7CB576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02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BD903-D0A4-41B1-88A5-7E030D5E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716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2.3e-10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AF1F3-DD65-40EF-9D26-6BC37C88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336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intensity MAE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B5FBC-3227-438C-B958-E8938A35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713C7-941F-401F-8AE2-8A431A8B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716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99.96%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63A22-043E-4596-AD9E-E6023DB6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geodesic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B9422-6B1F-46F5-BBC6-BA9BCF86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002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242B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1E9E3-1B78-4B42-B594-B305C640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716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0997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D0A2"/>
                </a:solidFill>
              </a:defRPr>
            </a:pPr>
            <a:r>
              <a:rPr sz="2250" b="1">
                <a:solidFill>
                  <a:srgbClr val="35D0A2"/>
                </a:solidFill>
              </a:rPr>
              <a:t>cuda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CFDAC-600D-43C2-9AA7-4967D6D9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3360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3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BD"/>
                </a:solidFill>
              </a:defRPr>
            </a:pPr>
            <a:r>
              <a:rPr sz="1125" b="0">
                <a:solidFill>
                  <a:srgbClr val="A8B6BD"/>
                </a:solidFill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808A1-B87E-47D1-B116-5860D783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9906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0A171D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4C57C-FD1B-4959-82B2-099D21C5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9048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fast-path intensity MAE 2.3e-10，hit-mask mismatch 0.0e+0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float64 geodesic intensity MAE 1.1e-10，disk-hit 计数 CPU/GPU 完全一致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validation/error_summary.md 明确记录 backend_reason</a:t>
            </a:r>
          </a:p>
          <a:p xmlns:a="http://schemas.openxmlformats.org/drawingml/2006/main">
            <a:pPr algn="l">
              <a:defRPr sz="1650" b="0">
                <a:solidFill>
                  <a:srgbClr val="F4F7F8"/>
                </a:solidFill>
              </a:defRPr>
            </a:pPr>
            <a:r>
              <a:rPr sz="1650" b="0">
                <a:solidFill>
                  <a:srgbClr val="F4F7F8"/>
                </a:solidFill>
              </a:rPr>
              <a:t>• geokerr 严格状态判定 91.25% overall / 98.27% disk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91D3F-8CCE-4850-93C7-85C91DFF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6E"/>
                </a:solidFill>
              </a:defRPr>
            </a:pPr>
            <a:r>
              <a:rPr sz="975" b="0">
                <a:solidFill>
                  <a:srgbClr val="51656E"/>
                </a:solidFill>
              </a:rPr>
              <a:t>Kerr thin-disk ray tracing</a:t>
            </a:r>
          </a:p>
        </p:txBody>
      </p:sp>
    </p:spTree>
    <p:extLst>
      <p:ext uri="{BB962C8B-B14F-4D97-AF65-F5344CB8AC3E}">
        <p14:creationId xmlns:p14="http://schemas.microsoft.com/office/powerpoint/2010/main" val="8510813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901BF4-ADF9-4C82-A9D8-DCB3E1664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06553-1898-4687-A43F-CE469EA1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</a:defRPr>
            </a:pPr>
            <a:r>
              <a:rPr sz="2550" b="1">
                <a:solidFill>
                  <a:srgbClr val="F4F7F8"/>
                </a:solidFill>
              </a:rPr>
              <a:t>参数扫描与性能产物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21F22-F65E-4585-B85C-46245F27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BD"/>
                </a:solidFill>
              </a:defRPr>
            </a:pPr>
            <a:r>
              <a:rPr sz="1350" b="0">
                <a:solidFill>
                  <a:srgbClr val="A8B6BD"/>
                </a:solidFill>
              </a:rPr>
              <a:t>spin、inclination、resolution 输出已经落盘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1da94514545ef"/>
          <a:stretch xmlns:a="http://schemas.openxmlformats.org/drawingml/2006/main"/>
        </p:blipFill>
        <p:spPr>
          <a:xfrm xmlns:a="http://schemas.openxmlformats.org/drawingml/2006/main">
            <a:off x="495300" y="1978025"/>
            <a:ext cx="5524500" cy="92075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685d8f0ae4e88"/>
          <a:stretch xmlns:a="http://schemas.openxmlformats.org/drawingml/2006/main"/>
        </p:blipFill>
        <p:spPr>
          <a:xfrm xmlns:a="http://schemas.openxmlformats.org/drawingml/2006/main">
            <a:off x="6191250" y="1771650"/>
            <a:ext cx="5334000" cy="13335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ca11897f94de0"/>
          <a:stretch xmlns:a="http://schemas.openxmlformats.org/drawingml/2006/main"/>
        </p:blipFill>
        <p:spPr>
          <a:xfrm xmlns:a="http://schemas.openxmlformats.org/drawingml/2006/main">
            <a:off x="4275296" y="3857625"/>
            <a:ext cx="3336608" cy="2152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61A24-6419-412F-94AA-3DC9594F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6E"/>
                </a:solidFill>
              </a:defRPr>
            </a:pPr>
            <a:r>
              <a:rPr sz="975" b="0">
                <a:solidFill>
                  <a:srgbClr val="51656E"/>
                </a:solidFill>
              </a:rPr>
              <a:t>Kerr thin-disk ray tracing</a:t>
            </a:r>
          </a:p>
        </p:txBody>
      </p:sp>
    </p:spTree>
    <p:extLst>
      <p:ext uri="{BB962C8B-B14F-4D97-AF65-F5344CB8AC3E}">
        <p14:creationId xmlns:p14="http://schemas.microsoft.com/office/powerpoint/2010/main" val="1505259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901BF4-ADF9-4C82-A9D8-DCB3E1664A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4F3AF-E583-49DF-8F0B-9F63468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8"/>
                </a:solidFill>
              </a:defRPr>
            </a:pPr>
            <a:r>
              <a:rPr sz="2550" b="1">
                <a:solidFill>
                  <a:srgbClr val="F4F7F8"/>
                </a:solidFill>
              </a:rPr>
              <a:t>限制与下一阶段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BA3C6-93F2-4FA5-8024-EEC89CFB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BD"/>
                </a:solidFill>
              </a:defRPr>
            </a:pPr>
            <a:r>
              <a:rPr sz="1350" b="0">
                <a:solidFill>
                  <a:srgbClr val="A8B6BD"/>
                </a:solidFill>
              </a:rPr>
              <a:t>当前 geodesic CUDA 已可用，后续重点是物理扩展和严格外部对齐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4580E-3796-46E9-A50B-731A3E3E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9906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8"/>
                </a:solidFill>
              </a:defRPr>
            </a:pPr>
            <a:r>
              <a:rPr sz="1875" b="0">
                <a:solidFill>
                  <a:srgbClr val="F4F7F8"/>
                </a:solidFill>
              </a:rPr>
              <a:t>• 相同观察者/相机约定下继续做 geokerr 坐标级轨迹对齐</a:t>
            </a:r>
          </a:p>
          <a:p xmlns:a="http://schemas.openxmlformats.org/drawingml/2006/main">
            <a:pPr algn="l">
              <a:defRPr sz="1875" b="0">
                <a:solidFill>
                  <a:srgbClr val="F4F7F8"/>
                </a:solidFill>
              </a:defRPr>
            </a:pPr>
            <a:r>
              <a:rPr sz="1875" b="0">
                <a:solidFill>
                  <a:srgbClr val="F4F7F8"/>
                </a:solidFill>
              </a:rPr>
              <a:t>• 探索 GPU adaptive stepping、warp bucketing 和更细粒度 profiling</a:t>
            </a:r>
          </a:p>
          <a:p xmlns:a="http://schemas.openxmlformats.org/drawingml/2006/main">
            <a:pPr algn="l">
              <a:defRPr sz="1875" b="0">
                <a:solidFill>
                  <a:srgbClr val="F4F7F8"/>
                </a:solidFill>
              </a:defRPr>
            </a:pPr>
            <a:r>
              <a:rPr sz="1875" b="0">
                <a:solidFill>
                  <a:srgbClr val="F4F7F8"/>
                </a:solidFill>
              </a:rPr>
              <a:t>• 扩展偏振输运、GRMHD 数据接口和更真实的辐射模型</a:t>
            </a:r>
          </a:p>
          <a:p xmlns:a="http://schemas.openxmlformats.org/drawingml/2006/main">
            <a:pPr algn="l">
              <a:defRPr sz="1875" b="0">
                <a:solidFill>
                  <a:srgbClr val="F4F7F8"/>
                </a:solidFill>
              </a:defRPr>
            </a:pPr>
            <a:r>
              <a:rPr sz="1875" b="0">
                <a:solidFill>
                  <a:srgbClr val="F4F7F8"/>
                </a:solidFill>
              </a:rPr>
              <a:t>• Carter 常数半解析路径可作为独立高精度参考</a:t>
            </a:r>
          </a:p>
          <a:p xmlns:a="http://schemas.openxmlformats.org/drawingml/2006/main">
            <a:pPr algn="l">
              <a:defRPr sz="1875" b="0">
                <a:solidFill>
                  <a:srgbClr val="F4F7F8"/>
                </a:solidFill>
              </a:defRPr>
            </a:pPr>
            <a:r>
              <a:rPr sz="1875" b="0">
                <a:solidFill>
                  <a:srgbClr val="F4F7F8"/>
                </a:solidFill>
              </a:rPr>
              <a:t>• 继续维护报告、结果 JSON 和生成脚本的单一事实来源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6E5C7-B7ED-41FA-BC3A-9B1D180D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971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C33"/>
          </a:solidFill>
          <a:ln xmlns:a="http://schemas.openxmlformats.org/drawingml/2006/main" w="9525">
            <a:solidFill>
              <a:srgbClr val="2440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60BDF-C73A-4DE9-A2C7-065864ED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292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801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D0A2"/>
                </a:solidFill>
              </a:defRPr>
            </a:pPr>
            <a:r>
              <a:rPr sz="1575" b="1">
                <a:solidFill>
                  <a:srgbClr val="35D0A2"/>
                </a:solidFill>
              </a:rPr>
              <a:t>当前交付重点：研究文档、工程骨架、可运行结果、验证链路和汇报产物已经整理成目录。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60E75-30A4-4E62-86B1-15B8445A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56E"/>
                </a:solidFill>
              </a:defRPr>
            </a:pPr>
            <a:r>
              <a:rPr sz="975" b="0">
                <a:solidFill>
                  <a:srgbClr val="51656E"/>
                </a:solidFill>
              </a:rPr>
              <a:t>Kerr thin-disk ray tracing</a:t>
            </a:r>
          </a:p>
        </p:txBody>
      </p:sp>
    </p:spTree>
    <p:extLst>
      <p:ext uri="{BB962C8B-B14F-4D97-AF65-F5344CB8AC3E}">
        <p14:creationId xmlns:p14="http://schemas.microsoft.com/office/powerpoint/2010/main" val="379518459"/>
      </p:ext>
    </p:extLst>
  </p:cSld>
</p:sld>
</file>

<file path=ppt/theme/theme1.xml><?xml version="1.0" encoding="utf-8"?>
<a:theme xmlns:a="http://schemas.openxmlformats.org/drawingml/2006/main" name="KerrDark">
  <a:themeElements>
    <a:clrScheme name="KerrDark">
      <a:accent1>
        <a:srgbClr val="35D0A2"/>
      </a:accent1>
      <a:accent2>
        <a:srgbClr val="E7B84D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errDark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2026-05-21T14:59:07.0140000Z</dcterms:created>
  <dcterms:modified xsi:type="dcterms:W3CDTF">2026-05-21T14:59:07.0140000Z</dcterms:modified>
</coreProperties>
</file>